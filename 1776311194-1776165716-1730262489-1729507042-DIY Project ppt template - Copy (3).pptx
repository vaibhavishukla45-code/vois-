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2"/>
  </p:notesMasterIdLst>
  <p:handoutMasterIdLst>
    <p:handoutMasterId r:id="rId13"/>
  </p:handoutMasterIdLst>
  <p:sldIdLst>
    <p:sldId id="338" r:id="rId5"/>
    <p:sldId id="327" r:id="rId6"/>
    <p:sldId id="315" r:id="rId7"/>
    <p:sldId id="329" r:id="rId8"/>
    <p:sldId id="302" r:id="rId9"/>
    <p:sldId id="339" r:id="rId10"/>
    <p:sldId id="30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8FE732-8A64-4AE1-8BE1-19AF4DB69DE4}" v="332" dt="2026-08-28T07:26:47.180"/>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69" d="100"/>
          <a:sy n="69" d="100"/>
        </p:scale>
        <p:origin x="484" y="4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8/28/2026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8/28/2026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8/28/2026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8/28/2026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8/28/2026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8/28/2026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8/28/2026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jfif"/><Relationship Id="rId7" Type="http://schemas.openxmlformats.org/officeDocument/2006/relationships/image" Target="../media/image9.png"/><Relationship Id="rId2" Type="http://schemas.openxmlformats.org/officeDocument/2006/relationships/hyperlink" Target="http://abc" TargetMode="External"/><Relationship Id="rId1" Type="http://schemas.openxmlformats.org/officeDocument/2006/relationships/slideLayout" Target="../slideLayouts/slideLayout1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550870" y="4265264"/>
            <a:ext cx="3960385" cy="379645"/>
          </a:xfrm>
        </p:spPr>
        <p:txBody>
          <a:bodyPr vert="horz" lIns="91440" tIns="45720" rIns="91440" bIns="45720" rtlCol="0" anchor="t">
            <a:normAutofit lnSpcReduction="10000"/>
          </a:bodyPr>
          <a:lstStyle/>
          <a:p>
            <a:pPr algn="r"/>
            <a:r>
              <a:rPr lang="en-IN" b="0">
                <a:solidFill>
                  <a:schemeClr val="tx1"/>
                </a:solidFill>
              </a:rPr>
              <a:t>Students Name- Vaibhavi Shukla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550869" y="2050553"/>
            <a:ext cx="4875458" cy="1931270"/>
          </a:xfrm>
        </p:spPr>
        <p:txBody>
          <a:bodyPr>
            <a:normAutofit fontScale="90000"/>
          </a:bodyPr>
          <a:lstStyle/>
          <a:p>
            <a:r>
              <a:rPr lang="en-GB" sz="3200" dirty="0"/>
              <a:t>Project Title – </a:t>
            </a:r>
            <a:r>
              <a:rPr lang="en-GB" sz="3200" err="1"/>
              <a:t>Analyzing</a:t>
            </a:r>
            <a:r>
              <a:rPr lang="en-GB" sz="3200" dirty="0"/>
              <a:t> Car Dekho used-car data using data analysis and data </a:t>
            </a:r>
            <a:r>
              <a:rPr lang="en-GB" sz="3200"/>
              <a:t>visualization</a:t>
            </a:r>
            <a:endParaRPr lang="en-GB"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5" name="TextBox 4">
            <a:extLst>
              <a:ext uri="{FF2B5EF4-FFF2-40B4-BE49-F238E27FC236}">
                <a16:creationId xmlns:a16="http://schemas.microsoft.com/office/drawing/2014/main" id="{F475DAA9-4524-01D1-8B9B-74F290F3BF30}"/>
              </a:ext>
            </a:extLst>
          </p:cNvPr>
          <p:cNvSpPr txBox="1"/>
          <p:nvPr/>
        </p:nvSpPr>
        <p:spPr>
          <a:xfrm>
            <a:off x="5644242" y="4940837"/>
            <a:ext cx="407700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Students ID-</a:t>
            </a:r>
          </a:p>
          <a:p>
            <a:r>
              <a:rPr lang="en-US">
                <a:ea typeface="+mn-lt"/>
                <a:cs typeface="+mn-lt"/>
              </a:rPr>
              <a:t>STU690cb34e4f5eb1762440014</a:t>
            </a:r>
            <a:endParaRPr lang="en-US"/>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2099673"/>
            <a:ext cx="6364045" cy="3944163"/>
          </a:xfrm>
        </p:spPr>
        <p:txBody>
          <a:bodyPr vert="horz" lIns="91440" tIns="45720" rIns="91440" bIns="45720" rtlCol="0" anchor="t">
            <a:normAutofit fontScale="55000" lnSpcReduction="20000"/>
          </a:bodyPr>
          <a:lstStyle/>
          <a:p>
            <a:pPr>
              <a:lnSpc>
                <a:spcPct val="150000"/>
              </a:lnSpc>
            </a:pPr>
            <a:r>
              <a:rPr lang="en-IN" sz="2800" dirty="0">
                <a:ea typeface="+mn-lt"/>
                <a:cs typeface="+mn-lt"/>
              </a:rPr>
              <a:t>1. The used-car market contains vehicles with different prices, fuel </a:t>
            </a:r>
            <a:r>
              <a:rPr lang="en-IN" sz="2800">
                <a:ea typeface="+mn-lt"/>
                <a:cs typeface="+mn-lt"/>
              </a:rPr>
              <a:t>types, transmission types, and usage levels.</a:t>
            </a:r>
            <a:endParaRPr lang="en-IN" sz="2800" dirty="0">
              <a:ea typeface="+mn-lt"/>
              <a:cs typeface="+mn-lt"/>
            </a:endParaRPr>
          </a:p>
          <a:p>
            <a:pPr>
              <a:lnSpc>
                <a:spcPct val="150000"/>
              </a:lnSpc>
            </a:pPr>
            <a:r>
              <a:rPr lang="en-IN" sz="2800" dirty="0">
                <a:ea typeface="+mn-lt"/>
                <a:cs typeface="+mn-lt"/>
              </a:rPr>
              <a:t> 2. It is difficult to understand which factors have the greatest impact on a car’s selling price. </a:t>
            </a:r>
          </a:p>
          <a:p>
            <a:pPr>
              <a:lnSpc>
                <a:spcPct val="150000"/>
              </a:lnSpc>
            </a:pPr>
            <a:r>
              <a:rPr lang="en-IN" sz="2800">
                <a:ea typeface="+mn-lt"/>
                <a:cs typeface="+mn-lt"/>
              </a:rPr>
              <a:t>3. Buyers and sellers need data-</a:t>
            </a:r>
            <a:r>
              <a:rPr lang="en-IN" sz="2800" dirty="0">
                <a:ea typeface="+mn-lt"/>
                <a:cs typeface="+mn-lt"/>
              </a:rPr>
              <a:t>driven insights to evaluate a vehicle’s fair market value. </a:t>
            </a:r>
            <a:endParaRPr lang="en-IN" sz="2800">
              <a:ea typeface="+mn-lt"/>
              <a:cs typeface="+mn-lt"/>
            </a:endParaRPr>
          </a:p>
          <a:p>
            <a:pPr>
              <a:lnSpc>
                <a:spcPct val="150000"/>
              </a:lnSpc>
            </a:pPr>
            <a:r>
              <a:rPr lang="en-IN" sz="2800" dirty="0">
                <a:ea typeface="+mn-lt"/>
                <a:cs typeface="+mn-lt"/>
              </a:rPr>
              <a:t>4. This project </a:t>
            </a:r>
            <a:r>
              <a:rPr lang="en-IN" sz="2800" dirty="0" err="1">
                <a:ea typeface="+mn-lt"/>
                <a:cs typeface="+mn-lt"/>
              </a:rPr>
              <a:t>analyzes</a:t>
            </a:r>
            <a:r>
              <a:rPr lang="en-IN" sz="2800" dirty="0">
                <a:ea typeface="+mn-lt"/>
                <a:cs typeface="+mn-lt"/>
              </a:rPr>
              <a:t> historical Car Dekho data to identify important market trends and pricing patterns.</a:t>
            </a:r>
          </a:p>
          <a:p>
            <a:pPr>
              <a:lnSpc>
                <a:spcPct val="150000"/>
              </a:lnSpc>
            </a:pPr>
            <a:r>
              <a:rPr lang="en-IN" sz="2800" dirty="0">
                <a:ea typeface="+mn-lt"/>
                <a:cs typeface="+mn-lt"/>
              </a:rPr>
              <a:t> 5. The goal is to provide meaningful insights that can support better buying, selling, and pricing decisions. </a:t>
            </a:r>
            <a:endParaRPr lang="en-IN" sz="280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1604" y="805213"/>
            <a:ext cx="6040786" cy="5167673"/>
          </a:xfrm>
        </p:spPr>
        <p:txBody>
          <a:bodyPr>
            <a:normAutofit fontScale="90000"/>
          </a:bodyPr>
          <a:lstStyle/>
          <a:p>
            <a:r>
              <a:rPr lang="en-GB" dirty="0"/>
              <a:t>Project Description</a:t>
            </a:r>
            <a:br>
              <a:rPr lang="en-GB" dirty="0"/>
            </a:br>
            <a:r>
              <a:rPr lang="en-GB" sz="1600" b="0" dirty="0">
                <a:ea typeface="+mj-lt"/>
                <a:cs typeface="+mj-lt"/>
              </a:rPr>
              <a:t>This project focuses on </a:t>
            </a:r>
            <a:r>
              <a:rPr lang="en-GB" sz="1600" b="0" dirty="0" err="1">
                <a:ea typeface="+mj-lt"/>
                <a:cs typeface="+mj-lt"/>
              </a:rPr>
              <a:t>analyzing</a:t>
            </a:r>
            <a:r>
              <a:rPr lang="en-GB" sz="1600" b="0" dirty="0">
                <a:ea typeface="+mj-lt"/>
                <a:cs typeface="+mj-lt"/>
              </a:rPr>
              <a:t> Car Dekho used-car data using data analysis and visualization techniques. The dataset contains information such as car name, manufacturing year, selling price, present price, </a:t>
            </a:r>
            <a:r>
              <a:rPr lang="en-GB" sz="1600" b="0" dirty="0" err="1">
                <a:ea typeface="+mj-lt"/>
                <a:cs typeface="+mj-lt"/>
              </a:rPr>
              <a:t>kilometers</a:t>
            </a:r>
            <a:r>
              <a:rPr lang="en-GB" sz="1600" b="0" dirty="0">
                <a:ea typeface="+mj-lt"/>
                <a:cs typeface="+mj-lt"/>
              </a:rPr>
              <a:t> driven, fuel type, seller type, transmission, and number of previous owners. The analysis explores relationships between these variables and identifies the major factors influencing used-car prices. The project can help stakeholders understand market trends and make informed decisions.</a:t>
            </a:r>
            <a:br>
              <a:rPr lang="en-GB" sz="1600" b="0" dirty="0">
                <a:ea typeface="+mj-lt"/>
                <a:cs typeface="+mj-lt"/>
              </a:rPr>
            </a:br>
            <a:r>
              <a:rPr lang="en-GB" sz="1600" b="0" dirty="0">
                <a:ea typeface="+mj-lt"/>
                <a:cs typeface="+mj-lt"/>
              </a:rPr>
              <a:t> End Users </a:t>
            </a:r>
            <a:br>
              <a:rPr lang="en-GB" sz="1600" b="0" dirty="0">
                <a:ea typeface="+mj-lt"/>
                <a:cs typeface="+mj-lt"/>
              </a:rPr>
            </a:br>
            <a:r>
              <a:rPr lang="en-GB" sz="1600" b="0" dirty="0">
                <a:ea typeface="+mj-lt"/>
                <a:cs typeface="+mj-lt"/>
              </a:rPr>
              <a:t>• Car Buyers – to compare cars and identify reasonable prices. • Car Sellers – to estimate competitive selling prices.</a:t>
            </a:r>
            <a:br>
              <a:rPr lang="en-GB" sz="1600" b="0" dirty="0">
                <a:ea typeface="+mj-lt"/>
                <a:cs typeface="+mj-lt"/>
              </a:rPr>
            </a:br>
            <a:r>
              <a:rPr lang="en-GB" sz="1600" b="0" dirty="0">
                <a:ea typeface="+mj-lt"/>
                <a:cs typeface="+mj-lt"/>
              </a:rPr>
              <a:t>• Car Dealers – to understand demand and pricing trends. </a:t>
            </a:r>
            <a:br>
              <a:rPr lang="en-GB" sz="1600" b="0" dirty="0">
                <a:ea typeface="+mj-lt"/>
                <a:cs typeface="+mj-lt"/>
              </a:rPr>
            </a:br>
            <a:r>
              <a:rPr lang="en-GB" sz="1600" b="0" dirty="0">
                <a:ea typeface="+mj-lt"/>
                <a:cs typeface="+mj-lt"/>
              </a:rPr>
              <a:t>• Used-Car Businesses – to support inventory and pricing decisions.</a:t>
            </a:r>
            <a:br>
              <a:rPr lang="en-GB" sz="1600" b="0" dirty="0">
                <a:ea typeface="+mj-lt"/>
                <a:cs typeface="+mj-lt"/>
              </a:rPr>
            </a:br>
            <a:r>
              <a:rPr lang="en-GB" sz="1600" b="0" dirty="0">
                <a:ea typeface="+mj-lt"/>
                <a:cs typeface="+mj-lt"/>
              </a:rPr>
              <a:t>• Data Analysts/Business Teams – to derive insights from automobile </a:t>
            </a:r>
            <a:r>
              <a:rPr lang="en-GB" sz="1600" b="0">
                <a:ea typeface="+mj-lt"/>
                <a:cs typeface="+mj-lt"/>
              </a:rPr>
              <a:t>market data.</a:t>
            </a:r>
            <a:br>
              <a:rPr lang="en-GB" sz="1600" b="0" dirty="0"/>
            </a:br>
            <a:br>
              <a:rPr lang="en-GB" sz="1600" b="0" dirty="0"/>
            </a:br>
            <a:br>
              <a:rPr lang="en-GB" sz="1600" dirty="0"/>
            </a:br>
            <a:endParaRPr lang="en-IN" sz="160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5865011" cy="3990023"/>
          </a:xfrm>
        </p:spPr>
        <p:txBody>
          <a:bodyPr vert="horz" lIns="91440" tIns="45720" rIns="91440" bIns="45720" rtlCol="0" anchor="t">
            <a:normAutofit fontScale="55000" lnSpcReduction="20000"/>
          </a:bodyPr>
          <a:lstStyle/>
          <a:p>
            <a:pPr algn="just">
              <a:lnSpc>
                <a:spcPct val="150000"/>
              </a:lnSpc>
            </a:pPr>
            <a:r>
              <a:rPr lang="en-IN" sz="3600">
                <a:ea typeface="+mn-lt"/>
                <a:cs typeface="+mn-lt"/>
              </a:rPr>
              <a:t>The primary end users of the Car Market Trends Analysis system are car buyers, used-car dealers, automobile companies, online automobile platforms, data analysts, and researchers. The analysis helps these users understand market trends, compare prices, identify popular car categories, and make data-driven decisions regarding buying, selling, and pricing of used cars.</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vert="horz" lIns="91440" tIns="45720" rIns="91440" bIns="45720" rtlCol="0" anchor="t">
            <a:normAutofit/>
          </a:bodyPr>
          <a:lstStyle/>
          <a:p>
            <a:pPr lvl="1">
              <a:lnSpc>
                <a:spcPct val="150000"/>
              </a:lnSpc>
            </a:pPr>
            <a:r>
              <a:rPr lang="en-GB" sz="3600" dirty="0">
                <a:solidFill>
                  <a:srgbClr val="000000"/>
                </a:solidFill>
              </a:rPr>
              <a:t>Technology Used : Python , Pandas, </a:t>
            </a:r>
            <a:r>
              <a:rPr lang="en-GB" sz="3600">
                <a:solidFill>
                  <a:srgbClr val="000000"/>
                </a:solidFill>
              </a:rPr>
              <a:t>Matplotlib, Seaborn</a:t>
            </a:r>
            <a:r>
              <a:rPr lang="en-GB" sz="3600" dirty="0">
                <a:solidFill>
                  <a:srgbClr val="000000"/>
                </a:solidFill>
              </a:rPr>
              <a:t> and Num Py</a:t>
            </a:r>
            <a:br>
              <a:rPr lang="en-GB" sz="3600" dirty="0"/>
            </a:br>
            <a:endParaRPr lang="en-IN" sz="3600">
              <a:solidFill>
                <a:srgbClr val="000000"/>
              </a:solidFill>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ABA25A55-2C70-4BF4-84B3-DAB0B6A0F9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31" name="Freeform 14">
              <a:extLst>
                <a:ext uri="{FF2B5EF4-FFF2-40B4-BE49-F238E27FC236}">
                  <a16:creationId xmlns:a16="http://schemas.microsoft.com/office/drawing/2014/main" id="{34DDEB77-23C4-4B9F-A228-97B5599B3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32" name="Straight Connector 31">
              <a:extLst>
                <a:ext uri="{FF2B5EF4-FFF2-40B4-BE49-F238E27FC236}">
                  <a16:creationId xmlns:a16="http://schemas.microsoft.com/office/drawing/2014/main" id="{D58851FF-DCF2-43C7-8970-B7045ED7533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406852C5-306E-46FB-844A-7632E6D3907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4" name="Rectangle 23">
              <a:extLst>
                <a:ext uri="{FF2B5EF4-FFF2-40B4-BE49-F238E27FC236}">
                  <a16:creationId xmlns:a16="http://schemas.microsoft.com/office/drawing/2014/main" id="{F40C9C1B-A82E-4755-816B-C827A271FF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Rectangle 25">
              <a:extLst>
                <a:ext uri="{FF2B5EF4-FFF2-40B4-BE49-F238E27FC236}">
                  <a16:creationId xmlns:a16="http://schemas.microsoft.com/office/drawing/2014/main" id="{8E7D1B95-1664-47D2-9F1E-5AE3B8F8E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Isosceles Triangle 35">
              <a:extLst>
                <a:ext uri="{FF2B5EF4-FFF2-40B4-BE49-F238E27FC236}">
                  <a16:creationId xmlns:a16="http://schemas.microsoft.com/office/drawing/2014/main" id="{C63FECDE-6D49-477E-896A-AEFD1909D5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7" name="Rectangle 27">
              <a:extLst>
                <a:ext uri="{FF2B5EF4-FFF2-40B4-BE49-F238E27FC236}">
                  <a16:creationId xmlns:a16="http://schemas.microsoft.com/office/drawing/2014/main" id="{42502F9E-0DC0-454C-8CBC-937053820F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8" name="Rectangle 28">
              <a:extLst>
                <a:ext uri="{FF2B5EF4-FFF2-40B4-BE49-F238E27FC236}">
                  <a16:creationId xmlns:a16="http://schemas.microsoft.com/office/drawing/2014/main" id="{E4139BD5-2F4F-48E5-930B-BF6BCAF6E1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9" name="Rectangle 29">
              <a:extLst>
                <a:ext uri="{FF2B5EF4-FFF2-40B4-BE49-F238E27FC236}">
                  <a16:creationId xmlns:a16="http://schemas.microsoft.com/office/drawing/2014/main" id="{B12DD939-5D79-4EC3-A014-5385FA5497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0" name="Isosceles Triangle 39">
              <a:extLst>
                <a:ext uri="{FF2B5EF4-FFF2-40B4-BE49-F238E27FC236}">
                  <a16:creationId xmlns:a16="http://schemas.microsoft.com/office/drawing/2014/main" id="{1E730207-4624-4450-B869-9F04E05BF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985968" y="4473225"/>
            <a:ext cx="8288035" cy="1095059"/>
          </a:xfrm>
        </p:spPr>
        <p:txBody>
          <a:bodyPr vert="horz" lIns="91440" tIns="45720" rIns="91440" bIns="45720" rtlCol="0" anchor="b">
            <a:normAutofit/>
          </a:bodyPr>
          <a:lstStyle/>
          <a:p>
            <a:pPr algn="ctr"/>
            <a:r>
              <a:rPr lang="en-US">
                <a:solidFill>
                  <a:schemeClr val="accent1"/>
                </a:solidFill>
              </a:rPr>
              <a:t>RESULTS </a:t>
            </a: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985968" y="5569874"/>
            <a:ext cx="8288035" cy="471488"/>
          </a:xfrm>
        </p:spPr>
        <p:txBody>
          <a:bodyPr vert="horz" lIns="91440" tIns="45720" rIns="91440" bIns="45720" rtlCol="0" anchor="t">
            <a:normAutofit/>
          </a:bodyPr>
          <a:lstStyle/>
          <a:p>
            <a:pPr marL="0" indent="0" algn="ctr">
              <a:buClr>
                <a:schemeClr val="accent1"/>
              </a:buClr>
              <a:buNone/>
            </a:pPr>
            <a:r>
              <a:rPr lang="en-US" sz="1800">
                <a:solidFill>
                  <a:schemeClr val="tx1">
                    <a:lumMod val="50000"/>
                    <a:lumOff val="50000"/>
                  </a:schemeClr>
                </a:solidFill>
              </a:rPr>
              <a:t> </a:t>
            </a:r>
            <a:r>
              <a:rPr lang="en-US" sz="1800" b="0" u="sng">
                <a:solidFill>
                  <a:schemeClr val="tx1">
                    <a:lumMod val="50000"/>
                    <a:lumOff val="50000"/>
                  </a:schemeClr>
                </a:solidFill>
                <a:hlinkClick r:id="rId2" action="ppaction://hlinkfile">
                  <a:extLst>
                    <a:ext uri="{A12FA001-AC4F-418D-AE19-62706E023703}">
                      <ahyp:hlinkClr xmlns:ahyp="http://schemas.microsoft.com/office/drawing/2018/hyperlinkcolor" val="tx"/>
                    </a:ext>
                  </a:extLst>
                </a:hlinkClick>
              </a:rPr>
              <a:t>Demo </a:t>
            </a:r>
            <a:r>
              <a:rPr lang="en-US" sz="1800" u="sng">
                <a:solidFill>
                  <a:schemeClr val="tx1">
                    <a:lumMod val="50000"/>
                    <a:lumOff val="50000"/>
                  </a:schemeClr>
                </a:solidFill>
                <a:hlinkClick r:id="rId2" action="ppaction://hlinkfile">
                  <a:extLst>
                    <a:ext uri="{A12FA001-AC4F-418D-AE19-62706E023703}">
                      <ahyp:hlinkClr xmlns:ahyp="http://schemas.microsoft.com/office/drawing/2018/hyperlinkcolor" val="tx"/>
                    </a:ext>
                  </a:extLst>
                </a:hlinkClick>
              </a:rPr>
              <a:t>Link</a:t>
            </a:r>
            <a:r>
              <a:rPr lang="en-US" sz="1800" u="sng">
                <a:solidFill>
                  <a:schemeClr val="tx1">
                    <a:lumMod val="50000"/>
                    <a:lumOff val="50000"/>
                  </a:schemeClr>
                </a:solidFill>
              </a:rPr>
              <a:t>-</a:t>
            </a:r>
            <a:r>
              <a:rPr lang="en-US" sz="1800">
                <a:solidFill>
                  <a:schemeClr val="tx1">
                    <a:lumMod val="50000"/>
                    <a:lumOff val="50000"/>
                  </a:schemeClr>
                </a:solidFill>
              </a:rPr>
              <a:t>https://github.com/vaibhavishukla45-code/VOIS-.git</a:t>
            </a:r>
            <a:r>
              <a:rPr lang="en-US" sz="1800" u="sng">
                <a:solidFill>
                  <a:schemeClr val="tx1">
                    <a:lumMod val="50000"/>
                    <a:lumOff val="50000"/>
                  </a:schemeClr>
                </a:solidFill>
              </a:rPr>
              <a:t> </a:t>
            </a:r>
            <a:endParaRPr lang="en-US" sz="1800" b="0" u="sng">
              <a:solidFill>
                <a:schemeClr val="tx1">
                  <a:lumMod val="50000"/>
                  <a:lumOff val="50000"/>
                </a:schemeClr>
              </a:solidFill>
            </a:endParaRPr>
          </a:p>
        </p:txBody>
      </p:sp>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3"/>
          <a:srcRect t="96181"/>
          <a:stretch/>
        </p:blipFill>
        <p:spPr>
          <a:xfrm>
            <a:off x="985965" y="2543274"/>
            <a:ext cx="2608783" cy="99629"/>
          </a:xfrm>
          <a:prstGeom prst="rect">
            <a:avLst/>
          </a:prstGeom>
        </p:spPr>
      </p:pic>
      <p:pic>
        <p:nvPicPr>
          <p:cNvPr id="3" name="Picture 2">
            <a:extLst>
              <a:ext uri="{FF2B5EF4-FFF2-40B4-BE49-F238E27FC236}">
                <a16:creationId xmlns:a16="http://schemas.microsoft.com/office/drawing/2014/main" id="{41A047DE-78A0-821B-623E-503AE3580D74}"/>
              </a:ext>
            </a:extLst>
          </p:cNvPr>
          <p:cNvPicPr>
            <a:picLocks noChangeAspect="1"/>
          </p:cNvPicPr>
          <p:nvPr/>
        </p:nvPicPr>
        <p:blipFill>
          <a:blip r:embed="rId4"/>
          <a:stretch>
            <a:fillRect/>
          </a:stretch>
        </p:blipFill>
        <p:spPr>
          <a:xfrm>
            <a:off x="493735" y="2543520"/>
            <a:ext cx="3561283" cy="2228254"/>
          </a:xfrm>
          <a:prstGeom prst="rect">
            <a:avLst/>
          </a:prstGeom>
        </p:spPr>
      </p:pic>
      <p:pic>
        <p:nvPicPr>
          <p:cNvPr id="2" name="Picture 1">
            <a:extLst>
              <a:ext uri="{FF2B5EF4-FFF2-40B4-BE49-F238E27FC236}">
                <a16:creationId xmlns:a16="http://schemas.microsoft.com/office/drawing/2014/main" id="{03D60CDB-C518-EDBA-A942-B5538594B220}"/>
              </a:ext>
            </a:extLst>
          </p:cNvPr>
          <p:cNvPicPr>
            <a:picLocks noChangeAspect="1"/>
          </p:cNvPicPr>
          <p:nvPr/>
        </p:nvPicPr>
        <p:blipFill>
          <a:blip r:embed="rId5"/>
          <a:srcRect l="-11262" t="-2326" r="11262" b="1938"/>
          <a:stretch>
            <a:fillRect/>
          </a:stretch>
        </p:blipFill>
        <p:spPr>
          <a:xfrm>
            <a:off x="4055714" y="235070"/>
            <a:ext cx="5219752" cy="2542096"/>
          </a:xfrm>
          <a:prstGeom prst="rect">
            <a:avLst/>
          </a:prstGeom>
        </p:spPr>
      </p:pic>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EBA90184-E323-9871-B052-2922EE39175D}"/>
              </a:ext>
            </a:extLst>
          </p:cNvPr>
          <p:cNvPicPr>
            <a:picLocks noChangeAspect="1"/>
          </p:cNvPicPr>
          <p:nvPr/>
        </p:nvPicPr>
        <p:blipFill>
          <a:blip r:embed="rId6"/>
          <a:stretch>
            <a:fillRect/>
          </a:stretch>
        </p:blipFill>
        <p:spPr>
          <a:xfrm>
            <a:off x="4431647" y="2926416"/>
            <a:ext cx="4449296" cy="1845609"/>
          </a:xfrm>
          <a:prstGeom prst="rect">
            <a:avLst/>
          </a:prstGeom>
        </p:spPr>
      </p:pic>
      <p:pic>
        <p:nvPicPr>
          <p:cNvPr id="11" name="Picture 10">
            <a:extLst>
              <a:ext uri="{FF2B5EF4-FFF2-40B4-BE49-F238E27FC236}">
                <a16:creationId xmlns:a16="http://schemas.microsoft.com/office/drawing/2014/main" id="{6651C505-3533-7A02-4A46-F86873533ABD}"/>
              </a:ext>
            </a:extLst>
          </p:cNvPr>
          <p:cNvPicPr>
            <a:picLocks noChangeAspect="1"/>
          </p:cNvPicPr>
          <p:nvPr/>
        </p:nvPicPr>
        <p:blipFill>
          <a:blip r:embed="rId7"/>
          <a:stretch>
            <a:fillRect/>
          </a:stretch>
        </p:blipFill>
        <p:spPr>
          <a:xfrm>
            <a:off x="960344" y="124106"/>
            <a:ext cx="3480548" cy="230673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build="p"/>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549</TotalTime>
  <Words>36</Words>
  <Application>Microsoft Office PowerPoint</Application>
  <PresentationFormat>Widescreen</PresentationFormat>
  <Paragraphs>13</Paragraphs>
  <Slides>7</Slides>
  <Notes>1</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Facet</vt:lpstr>
      <vt:lpstr>Project Title – Analyzing Car Dekho used-car data using data analysis and data visualization</vt:lpstr>
      <vt:lpstr>PROBLEM  STATEMENT</vt:lpstr>
      <vt:lpstr>Project Description This project focuses on analyzing Car Dekho used-car data using data analysis and visualization techniques. The dataset contains information such as car name, manufacturing year, selling price, present price, kilometers driven, fuel type, seller type, transmission, and number of previous owners. The analysis explores relationships between these variables and identifies the major factors influencing used-car prices. The project can help stakeholders understand market trends and make informed decisions.  End Users  • Car Buyers – to compare cars and identify reasonable prices. • Car Sellers – to estimate competitive selling prices. • Car Dealers – to understand demand and pricing trends.  • Used-Car Businesses – to support inventory and pricing decisions. • Data Analysts/Business Teams – to derive insights from automobile market data.   </vt:lpstr>
      <vt:lpstr>WHO ARE THE END USERS?</vt:lpstr>
      <vt:lpstr>Technology Used</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hp</cp:lastModifiedBy>
  <cp:revision>184</cp:revision>
  <dcterms:created xsi:type="dcterms:W3CDTF">2021-07-11T13:13:15Z</dcterms:created>
  <dcterms:modified xsi:type="dcterms:W3CDTF">2026-08-28T07:26:59Z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